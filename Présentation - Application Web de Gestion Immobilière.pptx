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ricolage Grotesque Semi-Bold" charset="1" panose="020B0605040402000204"/>
      <p:regular r:id="rId16"/>
    </p:embeddedFont>
    <p:embeddedFont>
      <p:font typeface="HK Grotesk" charset="1" panose="00000500000000000000"/>
      <p:regular r:id="rId17"/>
    </p:embeddedFont>
    <p:embeddedFont>
      <p:font typeface="Bricolage Grotesque Bold" charset="1" panose="020B060504040200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7759788" cy="8953500"/>
            <a:chOff x="0" y="0"/>
            <a:chExt cx="1202194" cy="138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2194" cy="1387131"/>
            </a:xfrm>
            <a:custGeom>
              <a:avLst/>
              <a:gdLst/>
              <a:ahLst/>
              <a:cxnLst/>
              <a:rect r="r" b="b" t="t" l="l"/>
              <a:pathLst>
                <a:path h="1387131" w="1202194">
                  <a:moveTo>
                    <a:pt x="19954" y="0"/>
                  </a:moveTo>
                  <a:lnTo>
                    <a:pt x="1182240" y="0"/>
                  </a:lnTo>
                  <a:cubicBezTo>
                    <a:pt x="1187532" y="0"/>
                    <a:pt x="1192608" y="2102"/>
                    <a:pt x="1196350" y="5844"/>
                  </a:cubicBezTo>
                  <a:cubicBezTo>
                    <a:pt x="1200092" y="9586"/>
                    <a:pt x="1202194" y="14662"/>
                    <a:pt x="1202194" y="19954"/>
                  </a:cubicBezTo>
                  <a:lnTo>
                    <a:pt x="1202194" y="1367177"/>
                  </a:lnTo>
                  <a:cubicBezTo>
                    <a:pt x="1202194" y="1378198"/>
                    <a:pt x="1193261" y="1387131"/>
                    <a:pt x="1182240" y="1387131"/>
                  </a:cubicBezTo>
                  <a:lnTo>
                    <a:pt x="19954" y="1387131"/>
                  </a:lnTo>
                  <a:cubicBezTo>
                    <a:pt x="8934" y="1387131"/>
                    <a:pt x="0" y="1378198"/>
                    <a:pt x="0" y="1367177"/>
                  </a:cubicBezTo>
                  <a:lnTo>
                    <a:pt x="0" y="19954"/>
                  </a:lnTo>
                  <a:cubicBezTo>
                    <a:pt x="0" y="8934"/>
                    <a:pt x="8934" y="0"/>
                    <a:pt x="1995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42" r="0" b="-242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677043" y="6462606"/>
            <a:ext cx="3467057" cy="4305236"/>
            <a:chOff x="0" y="0"/>
            <a:chExt cx="4622743" cy="5740315"/>
          </a:xfrm>
        </p:grpSpPr>
        <p:sp>
          <p:nvSpPr>
            <p:cNvPr name="Freeform 5" id="5"/>
            <p:cNvSpPr/>
            <p:nvPr/>
          </p:nvSpPr>
          <p:spPr>
            <a:xfrm flipH="false" flipV="false"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r="r" b="b" t="t" l="l"/>
              <a:pathLst>
                <a:path h="1665391" w="4872155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54623" cy="336039"/>
              </a:xfrm>
              <a:custGeom>
                <a:avLst/>
                <a:gdLst/>
                <a:ahLst/>
                <a:cxnLst/>
                <a:rect r="r" b="b" t="t" l="l"/>
                <a:pathLst>
                  <a:path h="336039" w="954623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5A5A5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anchor="ctr" rtlCol="false" tIns="18752" lIns="18752" bIns="18752" rIns="18752"/>
              <a:lstStyle/>
              <a:p>
                <a:pPr algn="ctr" marL="0" indent="0" lvl="0">
                  <a:lnSpc>
                    <a:spcPts val="7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666750" y="1301641"/>
            <a:ext cx="9763125" cy="8318609"/>
            <a:chOff x="0" y="0"/>
            <a:chExt cx="13017500" cy="1109147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257175"/>
              <a:ext cx="13017500" cy="96657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000"/>
                </a:lnSpc>
                <a:spcBef>
                  <a:spcPct val="0"/>
                </a:spcBef>
              </a:pPr>
              <a:r>
                <a:rPr lang="en-US" b="true" sz="14000" spc="-840" strike="noStrike" u="none">
                  <a:solidFill>
                    <a:srgbClr val="F0F0F0"/>
                  </a:solidFill>
                  <a:latin typeface="Bricolage Grotesque Semi-Bold"/>
                  <a:ea typeface="Bricolage Grotesque Semi-Bold"/>
                  <a:cs typeface="Bricolage Grotesque Semi-Bold"/>
                  <a:sym typeface="Bricolage Grotesque Semi-Bold"/>
                </a:rPr>
                <a:t>Application Web de Gestion Immobilière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00104" y="10200661"/>
              <a:ext cx="12742965" cy="890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66"/>
                </a:lnSpc>
              </a:pPr>
              <a:r>
                <a:rPr lang="en-US" sz="4205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Projet Universitaire par [présentateur]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800100"/>
            <a:ext cx="6866887" cy="181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F0F0F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Introduction et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4281488"/>
            <a:ext cx="5448300" cy="844349"/>
            <a:chOff x="0" y="0"/>
            <a:chExt cx="7264400" cy="112579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72644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9"/>
                </a:lnSpc>
                <a:spcBef>
                  <a:spcPct val="0"/>
                </a:spcBef>
              </a:pPr>
              <a:r>
                <a:rPr lang="en-US" b="true" sz="2658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Vue d'ensemble de l'application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55899"/>
              <a:ext cx="726440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Application web de gestion immobilière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5872162"/>
            <a:ext cx="5448300" cy="1244399"/>
            <a:chOff x="0" y="0"/>
            <a:chExt cx="7264400" cy="165919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726440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9"/>
                </a:lnSpc>
                <a:spcBef>
                  <a:spcPct val="0"/>
                </a:spcBef>
              </a:pPr>
              <a:r>
                <a:rPr lang="en-US" b="true" sz="2658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Architecture frontend uniquement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89299"/>
              <a:ext cx="726440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Structure technique du projet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862888"/>
            <a:ext cx="5448300" cy="844349"/>
            <a:chOff x="0" y="0"/>
            <a:chExt cx="7264400" cy="112579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72644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9"/>
                </a:lnSpc>
                <a:spcBef>
                  <a:spcPct val="0"/>
                </a:spcBef>
              </a:pPr>
              <a:r>
                <a:rPr lang="en-US" b="true" sz="2658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Objectifs principaux du projet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55899"/>
              <a:ext cx="726440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Efficacité et expérience utilisateur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82408" y="-295776"/>
            <a:ext cx="8140533" cy="10878553"/>
            <a:chOff x="0" y="0"/>
            <a:chExt cx="1261182" cy="16853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1182" cy="1685373"/>
            </a:xfrm>
            <a:custGeom>
              <a:avLst/>
              <a:gdLst/>
              <a:ahLst/>
              <a:cxnLst/>
              <a:rect r="r" b="b" t="t" l="l"/>
              <a:pathLst>
                <a:path h="1685373" w="1261182">
                  <a:moveTo>
                    <a:pt x="19021" y="0"/>
                  </a:moveTo>
                  <a:lnTo>
                    <a:pt x="1242161" y="0"/>
                  </a:lnTo>
                  <a:cubicBezTo>
                    <a:pt x="1252666" y="0"/>
                    <a:pt x="1261182" y="8516"/>
                    <a:pt x="1261182" y="19021"/>
                  </a:cubicBezTo>
                  <a:lnTo>
                    <a:pt x="1261182" y="1666352"/>
                  </a:lnTo>
                  <a:cubicBezTo>
                    <a:pt x="1261182" y="1676857"/>
                    <a:pt x="1252666" y="1685373"/>
                    <a:pt x="1242161" y="1685373"/>
                  </a:cubicBezTo>
                  <a:lnTo>
                    <a:pt x="19021" y="1685373"/>
                  </a:lnTo>
                  <a:cubicBezTo>
                    <a:pt x="13976" y="1685373"/>
                    <a:pt x="9138" y="1683369"/>
                    <a:pt x="5571" y="1679802"/>
                  </a:cubicBezTo>
                  <a:cubicBezTo>
                    <a:pt x="2004" y="1676235"/>
                    <a:pt x="0" y="1671396"/>
                    <a:pt x="0" y="1666352"/>
                  </a:cubicBezTo>
                  <a:lnTo>
                    <a:pt x="0" y="19021"/>
                  </a:lnTo>
                  <a:cubicBezTo>
                    <a:pt x="0" y="8516"/>
                    <a:pt x="8516" y="0"/>
                    <a:pt x="1902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91" r="0" b="-391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493924" y="6934200"/>
            <a:ext cx="3467057" cy="4305236"/>
            <a:chOff x="0" y="0"/>
            <a:chExt cx="4622743" cy="5740315"/>
          </a:xfrm>
        </p:grpSpPr>
        <p:sp>
          <p:nvSpPr>
            <p:cNvPr name="Freeform 15" id="15"/>
            <p:cNvSpPr/>
            <p:nvPr/>
          </p:nvSpPr>
          <p:spPr>
            <a:xfrm flipH="false" flipV="false"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r="r" b="b" t="t" l="l"/>
              <a:pathLst>
                <a:path h="1665391" w="4872155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54623" cy="336039"/>
              </a:xfrm>
              <a:custGeom>
                <a:avLst/>
                <a:gdLst/>
                <a:ahLst/>
                <a:cxnLst/>
                <a:rect r="r" b="b" t="t" l="l"/>
                <a:pathLst>
                  <a:path h="336039" w="954623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8A8A8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anchor="ctr" rtlCol="false" tIns="18752" lIns="18752" bIns="18752" rIns="18752"/>
              <a:lstStyle/>
              <a:p>
                <a:pPr algn="ctr" marL="0" indent="0" lvl="0">
                  <a:lnSpc>
                    <a:spcPts val="755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  <p:transition spd="slow">
    <p:push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800100"/>
            <a:ext cx="6866887" cy="270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F0F0F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Structure des Dossiers du Projet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4081462"/>
            <a:ext cx="5448300" cy="1244399"/>
            <a:chOff x="0" y="0"/>
            <a:chExt cx="7264400" cy="165919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726440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9"/>
                </a:lnSpc>
                <a:spcBef>
                  <a:spcPct val="0"/>
                </a:spcBef>
              </a:pPr>
              <a:r>
                <a:rPr lang="en-US" b="true" sz="2658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Modularité des Fichiers JavaScript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89299"/>
              <a:ext cx="726440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Organisation des fichiers efficace.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6072188"/>
            <a:ext cx="5448300" cy="844349"/>
            <a:chOff x="0" y="0"/>
            <a:chExt cx="7264400" cy="112579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72644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9"/>
                </a:lnSpc>
                <a:spcBef>
                  <a:spcPct val="0"/>
                </a:spcBef>
              </a:pPr>
              <a:r>
                <a:rPr lang="en-US" b="true" sz="2658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Séparation des Responsabilités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55899"/>
              <a:ext cx="726440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HTML, CSS et JS distincts.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862888"/>
            <a:ext cx="5448300" cy="844349"/>
            <a:chOff x="0" y="0"/>
            <a:chExt cx="7264400" cy="112579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72644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9"/>
                </a:lnSpc>
                <a:spcBef>
                  <a:spcPct val="0"/>
                </a:spcBef>
              </a:pPr>
              <a:r>
                <a:rPr lang="en-US" b="true" sz="2658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Clarté et Maintenance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55899"/>
              <a:ext cx="726440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Simplifie les mises à jour.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82408" y="-295776"/>
            <a:ext cx="8140533" cy="10878553"/>
            <a:chOff x="0" y="0"/>
            <a:chExt cx="1261182" cy="16853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1182" cy="1685373"/>
            </a:xfrm>
            <a:custGeom>
              <a:avLst/>
              <a:gdLst/>
              <a:ahLst/>
              <a:cxnLst/>
              <a:rect r="r" b="b" t="t" l="l"/>
              <a:pathLst>
                <a:path h="1685373" w="1261182">
                  <a:moveTo>
                    <a:pt x="19021" y="0"/>
                  </a:moveTo>
                  <a:lnTo>
                    <a:pt x="1242161" y="0"/>
                  </a:lnTo>
                  <a:cubicBezTo>
                    <a:pt x="1252666" y="0"/>
                    <a:pt x="1261182" y="8516"/>
                    <a:pt x="1261182" y="19021"/>
                  </a:cubicBezTo>
                  <a:lnTo>
                    <a:pt x="1261182" y="1666352"/>
                  </a:lnTo>
                  <a:cubicBezTo>
                    <a:pt x="1261182" y="1676857"/>
                    <a:pt x="1252666" y="1685373"/>
                    <a:pt x="1242161" y="1685373"/>
                  </a:cubicBezTo>
                  <a:lnTo>
                    <a:pt x="19021" y="1685373"/>
                  </a:lnTo>
                  <a:cubicBezTo>
                    <a:pt x="13976" y="1685373"/>
                    <a:pt x="9138" y="1683369"/>
                    <a:pt x="5571" y="1679802"/>
                  </a:cubicBezTo>
                  <a:cubicBezTo>
                    <a:pt x="2004" y="1676235"/>
                    <a:pt x="0" y="1671396"/>
                    <a:pt x="0" y="1666352"/>
                  </a:cubicBezTo>
                  <a:lnTo>
                    <a:pt x="0" y="19021"/>
                  </a:lnTo>
                  <a:cubicBezTo>
                    <a:pt x="0" y="8516"/>
                    <a:pt x="8516" y="0"/>
                    <a:pt x="1902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91" r="0" b="-391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493924" y="6934200"/>
            <a:ext cx="3467057" cy="4305236"/>
            <a:chOff x="0" y="0"/>
            <a:chExt cx="4622743" cy="5740315"/>
          </a:xfrm>
        </p:grpSpPr>
        <p:sp>
          <p:nvSpPr>
            <p:cNvPr name="Freeform 15" id="15"/>
            <p:cNvSpPr/>
            <p:nvPr/>
          </p:nvSpPr>
          <p:spPr>
            <a:xfrm flipH="false" flipV="false"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r="r" b="b" t="t" l="l"/>
              <a:pathLst>
                <a:path h="1665391" w="4872155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54623" cy="336039"/>
              </a:xfrm>
              <a:custGeom>
                <a:avLst/>
                <a:gdLst/>
                <a:ahLst/>
                <a:cxnLst/>
                <a:rect r="r" b="b" t="t" l="l"/>
                <a:pathLst>
                  <a:path h="336039" w="954623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8A8A8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anchor="ctr" rtlCol="false" tIns="18752" lIns="18752" bIns="18752" rIns="18752"/>
              <a:lstStyle/>
              <a:p>
                <a:pPr algn="ctr" marL="0" indent="0" lvl="0">
                  <a:lnSpc>
                    <a:spcPts val="755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  <p:transition spd="slow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800100"/>
            <a:ext cx="6866887" cy="181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F0F0F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Workflow de l'application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4081462"/>
            <a:ext cx="5448300" cy="1244399"/>
            <a:chOff x="0" y="0"/>
            <a:chExt cx="7264400" cy="165919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726440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9"/>
                </a:lnSpc>
                <a:spcBef>
                  <a:spcPct val="0"/>
                </a:spcBef>
              </a:pPr>
              <a:r>
                <a:rPr lang="en-US" b="true" sz="2658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Authentification utilisateur sécurisée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89299"/>
              <a:ext cx="726440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Processus d'identification des utilisateurs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5872162"/>
            <a:ext cx="5448300" cy="1244399"/>
            <a:chOff x="0" y="0"/>
            <a:chExt cx="7264400" cy="165919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726440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9"/>
                </a:lnSpc>
                <a:spcBef>
                  <a:spcPct val="0"/>
                </a:spcBef>
              </a:pPr>
              <a:r>
                <a:rPr lang="en-US" b="true" sz="2658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Navigation fluide sans rechargement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89299"/>
              <a:ext cx="726440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Expérience utilisateur améliorée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862888"/>
            <a:ext cx="5448300" cy="844349"/>
            <a:chOff x="0" y="0"/>
            <a:chExt cx="7264400" cy="112579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72644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9"/>
                </a:lnSpc>
                <a:spcBef>
                  <a:spcPct val="0"/>
                </a:spcBef>
              </a:pPr>
              <a:r>
                <a:rPr lang="en-US" b="true" sz="2658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Opérations CRUD dynamiques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55899"/>
              <a:ext cx="726440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Gestion des données en temps réel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82408" y="-295776"/>
            <a:ext cx="8140533" cy="10878553"/>
            <a:chOff x="0" y="0"/>
            <a:chExt cx="1261182" cy="16853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1182" cy="1685373"/>
            </a:xfrm>
            <a:custGeom>
              <a:avLst/>
              <a:gdLst/>
              <a:ahLst/>
              <a:cxnLst/>
              <a:rect r="r" b="b" t="t" l="l"/>
              <a:pathLst>
                <a:path h="1685373" w="1261182">
                  <a:moveTo>
                    <a:pt x="19021" y="0"/>
                  </a:moveTo>
                  <a:lnTo>
                    <a:pt x="1242161" y="0"/>
                  </a:lnTo>
                  <a:cubicBezTo>
                    <a:pt x="1252666" y="0"/>
                    <a:pt x="1261182" y="8516"/>
                    <a:pt x="1261182" y="19021"/>
                  </a:cubicBezTo>
                  <a:lnTo>
                    <a:pt x="1261182" y="1666352"/>
                  </a:lnTo>
                  <a:cubicBezTo>
                    <a:pt x="1261182" y="1676857"/>
                    <a:pt x="1252666" y="1685373"/>
                    <a:pt x="1242161" y="1685373"/>
                  </a:cubicBezTo>
                  <a:lnTo>
                    <a:pt x="19021" y="1685373"/>
                  </a:lnTo>
                  <a:cubicBezTo>
                    <a:pt x="13976" y="1685373"/>
                    <a:pt x="9138" y="1683369"/>
                    <a:pt x="5571" y="1679802"/>
                  </a:cubicBezTo>
                  <a:cubicBezTo>
                    <a:pt x="2004" y="1676235"/>
                    <a:pt x="0" y="1671396"/>
                    <a:pt x="0" y="1666352"/>
                  </a:cubicBezTo>
                  <a:lnTo>
                    <a:pt x="0" y="19021"/>
                  </a:lnTo>
                  <a:cubicBezTo>
                    <a:pt x="0" y="8516"/>
                    <a:pt x="8516" y="0"/>
                    <a:pt x="1902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91" r="0" b="-391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493924" y="6934200"/>
            <a:ext cx="3467057" cy="4305236"/>
            <a:chOff x="0" y="0"/>
            <a:chExt cx="4622743" cy="5740315"/>
          </a:xfrm>
        </p:grpSpPr>
        <p:sp>
          <p:nvSpPr>
            <p:cNvPr name="Freeform 15" id="15"/>
            <p:cNvSpPr/>
            <p:nvPr/>
          </p:nvSpPr>
          <p:spPr>
            <a:xfrm flipH="false" flipV="false"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r="r" b="b" t="t" l="l"/>
              <a:pathLst>
                <a:path h="1665391" w="4872155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54623" cy="336039"/>
              </a:xfrm>
              <a:custGeom>
                <a:avLst/>
                <a:gdLst/>
                <a:ahLst/>
                <a:cxnLst/>
                <a:rect r="r" b="b" t="t" l="l"/>
                <a:pathLst>
                  <a:path h="336039" w="954623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8A8A8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anchor="ctr" rtlCol="false" tIns="18752" lIns="18752" bIns="18752" rIns="18752"/>
              <a:lstStyle/>
              <a:p>
                <a:pPr algn="ctr" marL="0" indent="0" lvl="0">
                  <a:lnSpc>
                    <a:spcPts val="755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  <p:transition spd="slow">
    <p:push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800100"/>
            <a:ext cx="6866887" cy="270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F0F0F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Fonctionnalités Clés et Gestion des Données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4081462"/>
            <a:ext cx="5448300" cy="1244399"/>
            <a:chOff x="0" y="0"/>
            <a:chExt cx="7264400" cy="165919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726440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9"/>
                </a:lnSpc>
                <a:spcBef>
                  <a:spcPct val="0"/>
                </a:spcBef>
              </a:pPr>
              <a:r>
                <a:rPr lang="en-US" b="true" sz="2658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Authentification et gestion de session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89299"/>
              <a:ext cx="726440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Sécurisation des accès utilisateur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5872162"/>
            <a:ext cx="5448300" cy="1244399"/>
            <a:chOff x="0" y="0"/>
            <a:chExt cx="7264400" cy="165919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726440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9"/>
                </a:lnSpc>
                <a:spcBef>
                  <a:spcPct val="0"/>
                </a:spcBef>
              </a:pPr>
              <a:r>
                <a:rPr lang="en-US" b="true" sz="2658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Validation du formulaire de connexion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89299"/>
              <a:ext cx="726440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Assurance de l'intégrité des données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662862"/>
            <a:ext cx="5448300" cy="1244399"/>
            <a:chOff x="0" y="0"/>
            <a:chExt cx="7264400" cy="165919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726440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9"/>
                </a:lnSpc>
                <a:spcBef>
                  <a:spcPct val="0"/>
                </a:spcBef>
              </a:pPr>
              <a:r>
                <a:rPr lang="en-US" b="true" sz="2658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Utilisation de localStorage pour la session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89299"/>
              <a:ext cx="726440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Sauvegarde des sessions utilisateur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82408" y="-295776"/>
            <a:ext cx="8140533" cy="10878553"/>
            <a:chOff x="0" y="0"/>
            <a:chExt cx="1261182" cy="16853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1182" cy="1685373"/>
            </a:xfrm>
            <a:custGeom>
              <a:avLst/>
              <a:gdLst/>
              <a:ahLst/>
              <a:cxnLst/>
              <a:rect r="r" b="b" t="t" l="l"/>
              <a:pathLst>
                <a:path h="1685373" w="1261182">
                  <a:moveTo>
                    <a:pt x="19021" y="0"/>
                  </a:moveTo>
                  <a:lnTo>
                    <a:pt x="1242161" y="0"/>
                  </a:lnTo>
                  <a:cubicBezTo>
                    <a:pt x="1252666" y="0"/>
                    <a:pt x="1261182" y="8516"/>
                    <a:pt x="1261182" y="19021"/>
                  </a:cubicBezTo>
                  <a:lnTo>
                    <a:pt x="1261182" y="1666352"/>
                  </a:lnTo>
                  <a:cubicBezTo>
                    <a:pt x="1261182" y="1676857"/>
                    <a:pt x="1252666" y="1685373"/>
                    <a:pt x="1242161" y="1685373"/>
                  </a:cubicBezTo>
                  <a:lnTo>
                    <a:pt x="19021" y="1685373"/>
                  </a:lnTo>
                  <a:cubicBezTo>
                    <a:pt x="13976" y="1685373"/>
                    <a:pt x="9138" y="1683369"/>
                    <a:pt x="5571" y="1679802"/>
                  </a:cubicBezTo>
                  <a:cubicBezTo>
                    <a:pt x="2004" y="1676235"/>
                    <a:pt x="0" y="1671396"/>
                    <a:pt x="0" y="1666352"/>
                  </a:cubicBezTo>
                  <a:lnTo>
                    <a:pt x="0" y="19021"/>
                  </a:lnTo>
                  <a:cubicBezTo>
                    <a:pt x="0" y="8516"/>
                    <a:pt x="8516" y="0"/>
                    <a:pt x="1902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91" r="0" b="-391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493924" y="6934200"/>
            <a:ext cx="3467057" cy="4305236"/>
            <a:chOff x="0" y="0"/>
            <a:chExt cx="4622743" cy="5740315"/>
          </a:xfrm>
        </p:grpSpPr>
        <p:sp>
          <p:nvSpPr>
            <p:cNvPr name="Freeform 15" id="15"/>
            <p:cNvSpPr/>
            <p:nvPr/>
          </p:nvSpPr>
          <p:spPr>
            <a:xfrm flipH="false" flipV="false"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r="r" b="b" t="t" l="l"/>
              <a:pathLst>
                <a:path h="1665391" w="4872155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54623" cy="336039"/>
              </a:xfrm>
              <a:custGeom>
                <a:avLst/>
                <a:gdLst/>
                <a:ahLst/>
                <a:cxnLst/>
                <a:rect r="r" b="b" t="t" l="l"/>
                <a:pathLst>
                  <a:path h="336039" w="954623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8A8A8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anchor="ctr" rtlCol="false" tIns="18752" lIns="18752" bIns="18752" rIns="18752"/>
              <a:lstStyle/>
              <a:p>
                <a:pPr algn="ctr" marL="0" indent="0" lvl="0">
                  <a:lnSpc>
                    <a:spcPts val="755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  <p:transition spd="slow">
    <p:push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800100"/>
            <a:ext cx="6866887" cy="181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F0F0F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Système de navigation SPA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4300538"/>
            <a:ext cx="5448300" cy="806249"/>
            <a:chOff x="0" y="0"/>
            <a:chExt cx="7264400" cy="107499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726440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89"/>
                </a:lnSpc>
                <a:spcBef>
                  <a:spcPct val="0"/>
                </a:spcBef>
              </a:pPr>
              <a:r>
                <a:rPr lang="en-US" b="true" sz="2491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Chargement dynamique des pages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08274"/>
              <a:ext cx="7264400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5"/>
                </a:lnSpc>
                <a:spcBef>
                  <a:spcPct val="0"/>
                </a:spcBef>
              </a:pPr>
              <a:r>
                <a:rPr lang="en-US" sz="2279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Amélioration de l'expérience utilisateur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6091238"/>
            <a:ext cx="5448300" cy="806249"/>
            <a:chOff x="0" y="0"/>
            <a:chExt cx="7264400" cy="107499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726440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89"/>
                </a:lnSpc>
                <a:spcBef>
                  <a:spcPct val="0"/>
                </a:spcBef>
              </a:pPr>
              <a:r>
                <a:rPr lang="en-US" b="true" sz="2491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Absence de rechargement complet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08274"/>
              <a:ext cx="7264400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5"/>
                </a:lnSpc>
                <a:spcBef>
                  <a:spcPct val="0"/>
                </a:spcBef>
              </a:pPr>
              <a:r>
                <a:rPr lang="en-US" sz="2279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Performances optimisées pour l'application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881938"/>
            <a:ext cx="5448300" cy="806249"/>
            <a:chOff x="0" y="0"/>
            <a:chExt cx="7264400" cy="107499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726440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89"/>
                </a:lnSpc>
                <a:spcBef>
                  <a:spcPct val="0"/>
                </a:spcBef>
              </a:pPr>
              <a:r>
                <a:rPr lang="en-US" b="true" sz="2491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Navigation fluide et rapide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08274"/>
              <a:ext cx="7264400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5"/>
                </a:lnSpc>
                <a:spcBef>
                  <a:spcPct val="0"/>
                </a:spcBef>
              </a:pPr>
              <a:r>
                <a:rPr lang="en-US" sz="2279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Réactivité accrue pour les utilisateurs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82408" y="-295776"/>
            <a:ext cx="8140533" cy="10878553"/>
            <a:chOff x="0" y="0"/>
            <a:chExt cx="1261182" cy="16853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1182" cy="1685373"/>
            </a:xfrm>
            <a:custGeom>
              <a:avLst/>
              <a:gdLst/>
              <a:ahLst/>
              <a:cxnLst/>
              <a:rect r="r" b="b" t="t" l="l"/>
              <a:pathLst>
                <a:path h="1685373" w="1261182">
                  <a:moveTo>
                    <a:pt x="19021" y="0"/>
                  </a:moveTo>
                  <a:lnTo>
                    <a:pt x="1242161" y="0"/>
                  </a:lnTo>
                  <a:cubicBezTo>
                    <a:pt x="1252666" y="0"/>
                    <a:pt x="1261182" y="8516"/>
                    <a:pt x="1261182" y="19021"/>
                  </a:cubicBezTo>
                  <a:lnTo>
                    <a:pt x="1261182" y="1666352"/>
                  </a:lnTo>
                  <a:cubicBezTo>
                    <a:pt x="1261182" y="1676857"/>
                    <a:pt x="1252666" y="1685373"/>
                    <a:pt x="1242161" y="1685373"/>
                  </a:cubicBezTo>
                  <a:lnTo>
                    <a:pt x="19021" y="1685373"/>
                  </a:lnTo>
                  <a:cubicBezTo>
                    <a:pt x="13976" y="1685373"/>
                    <a:pt x="9138" y="1683369"/>
                    <a:pt x="5571" y="1679802"/>
                  </a:cubicBezTo>
                  <a:cubicBezTo>
                    <a:pt x="2004" y="1676235"/>
                    <a:pt x="0" y="1671396"/>
                    <a:pt x="0" y="1666352"/>
                  </a:cubicBezTo>
                  <a:lnTo>
                    <a:pt x="0" y="19021"/>
                  </a:lnTo>
                  <a:cubicBezTo>
                    <a:pt x="0" y="8516"/>
                    <a:pt x="8516" y="0"/>
                    <a:pt x="1902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91" r="0" b="-391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493924" y="6934200"/>
            <a:ext cx="3467057" cy="4305236"/>
            <a:chOff x="0" y="0"/>
            <a:chExt cx="4622743" cy="5740315"/>
          </a:xfrm>
        </p:grpSpPr>
        <p:sp>
          <p:nvSpPr>
            <p:cNvPr name="Freeform 15" id="15"/>
            <p:cNvSpPr/>
            <p:nvPr/>
          </p:nvSpPr>
          <p:spPr>
            <a:xfrm flipH="false" flipV="false"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r="r" b="b" t="t" l="l"/>
              <a:pathLst>
                <a:path h="1665391" w="4872155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54623" cy="336039"/>
              </a:xfrm>
              <a:custGeom>
                <a:avLst/>
                <a:gdLst/>
                <a:ahLst/>
                <a:cxnLst/>
                <a:rect r="r" b="b" t="t" l="l"/>
                <a:pathLst>
                  <a:path h="336039" w="954623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8A8A8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anchor="ctr" rtlCol="false" tIns="18752" lIns="18752" bIns="18752" rIns="18752"/>
              <a:lstStyle/>
              <a:p>
                <a:pPr algn="ctr" marL="0" indent="0" lvl="0">
                  <a:lnSpc>
                    <a:spcPts val="755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  <p:transition spd="slow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800100"/>
            <a:ext cx="6866887" cy="270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F0F0F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Gestion des données initiales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4081462"/>
            <a:ext cx="5448300" cy="1244399"/>
            <a:chOff x="0" y="0"/>
            <a:chExt cx="7264400" cy="165919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726440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9"/>
                </a:lnSpc>
                <a:spcBef>
                  <a:spcPct val="0"/>
                </a:spcBef>
              </a:pPr>
              <a:r>
                <a:rPr lang="en-US" b="true" sz="2658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Chargement des données avec fetch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89299"/>
              <a:ext cx="726440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Intégration d’API pour données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5872162"/>
            <a:ext cx="5448300" cy="1244399"/>
            <a:chOff x="0" y="0"/>
            <a:chExt cx="7264400" cy="165919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726440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9"/>
                </a:lnSpc>
                <a:spcBef>
                  <a:spcPct val="0"/>
                </a:spcBef>
              </a:pPr>
              <a:r>
                <a:rPr lang="en-US" b="true" sz="2658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localStorage comme base de données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89299"/>
              <a:ext cx="726440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Simulation de stockage local efficace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862888"/>
            <a:ext cx="5448300" cy="844349"/>
            <a:chOff x="0" y="0"/>
            <a:chExt cx="7264400" cy="112579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72644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9"/>
                </a:lnSpc>
                <a:spcBef>
                  <a:spcPct val="0"/>
                </a:spcBef>
              </a:pPr>
              <a:r>
                <a:rPr lang="en-US" b="true" sz="2658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Données en format JSON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55899"/>
              <a:ext cx="726440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Manipulation de données simplifiée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82408" y="-295776"/>
            <a:ext cx="8140533" cy="10878553"/>
            <a:chOff x="0" y="0"/>
            <a:chExt cx="1261182" cy="16853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1182" cy="1685373"/>
            </a:xfrm>
            <a:custGeom>
              <a:avLst/>
              <a:gdLst/>
              <a:ahLst/>
              <a:cxnLst/>
              <a:rect r="r" b="b" t="t" l="l"/>
              <a:pathLst>
                <a:path h="1685373" w="1261182">
                  <a:moveTo>
                    <a:pt x="19021" y="0"/>
                  </a:moveTo>
                  <a:lnTo>
                    <a:pt x="1242161" y="0"/>
                  </a:lnTo>
                  <a:cubicBezTo>
                    <a:pt x="1252666" y="0"/>
                    <a:pt x="1261182" y="8516"/>
                    <a:pt x="1261182" y="19021"/>
                  </a:cubicBezTo>
                  <a:lnTo>
                    <a:pt x="1261182" y="1666352"/>
                  </a:lnTo>
                  <a:cubicBezTo>
                    <a:pt x="1261182" y="1676857"/>
                    <a:pt x="1252666" y="1685373"/>
                    <a:pt x="1242161" y="1685373"/>
                  </a:cubicBezTo>
                  <a:lnTo>
                    <a:pt x="19021" y="1685373"/>
                  </a:lnTo>
                  <a:cubicBezTo>
                    <a:pt x="13976" y="1685373"/>
                    <a:pt x="9138" y="1683369"/>
                    <a:pt x="5571" y="1679802"/>
                  </a:cubicBezTo>
                  <a:cubicBezTo>
                    <a:pt x="2004" y="1676235"/>
                    <a:pt x="0" y="1671396"/>
                    <a:pt x="0" y="1666352"/>
                  </a:cubicBezTo>
                  <a:lnTo>
                    <a:pt x="0" y="19021"/>
                  </a:lnTo>
                  <a:cubicBezTo>
                    <a:pt x="0" y="8516"/>
                    <a:pt x="8516" y="0"/>
                    <a:pt x="1902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91" r="0" b="-391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493924" y="6934200"/>
            <a:ext cx="3467057" cy="4305236"/>
            <a:chOff x="0" y="0"/>
            <a:chExt cx="4622743" cy="5740315"/>
          </a:xfrm>
        </p:grpSpPr>
        <p:sp>
          <p:nvSpPr>
            <p:cNvPr name="Freeform 15" id="15"/>
            <p:cNvSpPr/>
            <p:nvPr/>
          </p:nvSpPr>
          <p:spPr>
            <a:xfrm flipH="false" flipV="false"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r="r" b="b" t="t" l="l"/>
              <a:pathLst>
                <a:path h="1665391" w="4872155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54623" cy="336039"/>
              </a:xfrm>
              <a:custGeom>
                <a:avLst/>
                <a:gdLst/>
                <a:ahLst/>
                <a:cxnLst/>
                <a:rect r="r" b="b" t="t" l="l"/>
                <a:pathLst>
                  <a:path h="336039" w="954623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8A8A8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anchor="ctr" rtlCol="false" tIns="18752" lIns="18752" bIns="18752" rIns="18752"/>
              <a:lstStyle/>
              <a:p>
                <a:pPr algn="ctr" marL="0" indent="0" lvl="0">
                  <a:lnSpc>
                    <a:spcPts val="755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  <p:transition spd="slow">
    <p:push dir="u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800100"/>
            <a:ext cx="6866887" cy="181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F0F0F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Fonctionnalités CRUD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4310062"/>
            <a:ext cx="5448300" cy="787199"/>
            <a:chOff x="0" y="0"/>
            <a:chExt cx="7264400" cy="104959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72644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449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Module de gestion des propriétés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17799"/>
              <a:ext cx="7264400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92"/>
                </a:lnSpc>
                <a:spcBef>
                  <a:spcPct val="0"/>
                </a:spcBef>
              </a:pPr>
              <a:r>
                <a:rPr lang="en-US" sz="216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Gestion complète des propriétés immobilières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6100762"/>
            <a:ext cx="5448300" cy="787199"/>
            <a:chOff x="0" y="0"/>
            <a:chExt cx="7264400" cy="104959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72644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449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Manipulation de tableaux JavaScript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17799"/>
              <a:ext cx="7264400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92"/>
                </a:lnSpc>
                <a:spcBef>
                  <a:spcPct val="0"/>
                </a:spcBef>
              </a:pPr>
              <a:r>
                <a:rPr lang="en-US" sz="216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Opérations dynamiques sur les données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705725"/>
            <a:ext cx="5448300" cy="1158674"/>
            <a:chOff x="0" y="0"/>
            <a:chExt cx="7264400" cy="154489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1000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449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Gestion des interactions utilisateurs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13099"/>
              <a:ext cx="7264400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92"/>
                </a:lnSpc>
                <a:spcBef>
                  <a:spcPct val="0"/>
                </a:spcBef>
              </a:pPr>
              <a:r>
                <a:rPr lang="en-US" sz="216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Interface intuitive et réactive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82408" y="-295776"/>
            <a:ext cx="8140533" cy="10878553"/>
            <a:chOff x="0" y="0"/>
            <a:chExt cx="1261182" cy="16853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1182" cy="1685373"/>
            </a:xfrm>
            <a:custGeom>
              <a:avLst/>
              <a:gdLst/>
              <a:ahLst/>
              <a:cxnLst/>
              <a:rect r="r" b="b" t="t" l="l"/>
              <a:pathLst>
                <a:path h="1685373" w="1261182">
                  <a:moveTo>
                    <a:pt x="19021" y="0"/>
                  </a:moveTo>
                  <a:lnTo>
                    <a:pt x="1242161" y="0"/>
                  </a:lnTo>
                  <a:cubicBezTo>
                    <a:pt x="1252666" y="0"/>
                    <a:pt x="1261182" y="8516"/>
                    <a:pt x="1261182" y="19021"/>
                  </a:cubicBezTo>
                  <a:lnTo>
                    <a:pt x="1261182" y="1666352"/>
                  </a:lnTo>
                  <a:cubicBezTo>
                    <a:pt x="1261182" y="1676857"/>
                    <a:pt x="1252666" y="1685373"/>
                    <a:pt x="1242161" y="1685373"/>
                  </a:cubicBezTo>
                  <a:lnTo>
                    <a:pt x="19021" y="1685373"/>
                  </a:lnTo>
                  <a:cubicBezTo>
                    <a:pt x="13976" y="1685373"/>
                    <a:pt x="9138" y="1683369"/>
                    <a:pt x="5571" y="1679802"/>
                  </a:cubicBezTo>
                  <a:cubicBezTo>
                    <a:pt x="2004" y="1676235"/>
                    <a:pt x="0" y="1671396"/>
                    <a:pt x="0" y="1666352"/>
                  </a:cubicBezTo>
                  <a:lnTo>
                    <a:pt x="0" y="19021"/>
                  </a:lnTo>
                  <a:cubicBezTo>
                    <a:pt x="0" y="8516"/>
                    <a:pt x="8516" y="0"/>
                    <a:pt x="1902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91" r="0" b="-391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493924" y="6934200"/>
            <a:ext cx="3467057" cy="4305236"/>
            <a:chOff x="0" y="0"/>
            <a:chExt cx="4622743" cy="5740315"/>
          </a:xfrm>
        </p:grpSpPr>
        <p:sp>
          <p:nvSpPr>
            <p:cNvPr name="Freeform 15" id="15"/>
            <p:cNvSpPr/>
            <p:nvPr/>
          </p:nvSpPr>
          <p:spPr>
            <a:xfrm flipH="false" flipV="false"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r="r" b="b" t="t" l="l"/>
              <a:pathLst>
                <a:path h="1665391" w="4872155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54623" cy="336039"/>
              </a:xfrm>
              <a:custGeom>
                <a:avLst/>
                <a:gdLst/>
                <a:ahLst/>
                <a:cxnLst/>
                <a:rect r="r" b="b" t="t" l="l"/>
                <a:pathLst>
                  <a:path h="336039" w="954623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8A8A8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anchor="ctr" rtlCol="false" tIns="18752" lIns="18752" bIns="18752" rIns="18752"/>
              <a:lstStyle/>
              <a:p>
                <a:pPr algn="ctr" marL="0" indent="0" lvl="0">
                  <a:lnSpc>
                    <a:spcPts val="755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  <p:transition spd="slow">
    <p:push dir="u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800100"/>
            <a:ext cx="6866887" cy="270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F0F0F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Logique Métier et Tableau de Bord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4248150"/>
            <a:ext cx="5448300" cy="911024"/>
            <a:chOff x="0" y="0"/>
            <a:chExt cx="7264400" cy="121469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Entités principales à gérer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732099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Client, Propriété et Agent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6038850"/>
            <a:ext cx="5448300" cy="911024"/>
            <a:chOff x="0" y="0"/>
            <a:chExt cx="7264400" cy="121469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Relations basées sur ID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732099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Identifier les connexions entre entités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600950"/>
            <a:ext cx="5448300" cy="1368224"/>
            <a:chOff x="0" y="0"/>
            <a:chExt cx="7264400" cy="182429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Logique relationnelle simplifiée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41699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Fonctionnement sans base de données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82408" y="-295776"/>
            <a:ext cx="8140533" cy="10878553"/>
            <a:chOff x="0" y="0"/>
            <a:chExt cx="1261182" cy="16853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1182" cy="1685373"/>
            </a:xfrm>
            <a:custGeom>
              <a:avLst/>
              <a:gdLst/>
              <a:ahLst/>
              <a:cxnLst/>
              <a:rect r="r" b="b" t="t" l="l"/>
              <a:pathLst>
                <a:path h="1685373" w="1261182">
                  <a:moveTo>
                    <a:pt x="19021" y="0"/>
                  </a:moveTo>
                  <a:lnTo>
                    <a:pt x="1242161" y="0"/>
                  </a:lnTo>
                  <a:cubicBezTo>
                    <a:pt x="1252666" y="0"/>
                    <a:pt x="1261182" y="8516"/>
                    <a:pt x="1261182" y="19021"/>
                  </a:cubicBezTo>
                  <a:lnTo>
                    <a:pt x="1261182" y="1666352"/>
                  </a:lnTo>
                  <a:cubicBezTo>
                    <a:pt x="1261182" y="1676857"/>
                    <a:pt x="1252666" y="1685373"/>
                    <a:pt x="1242161" y="1685373"/>
                  </a:cubicBezTo>
                  <a:lnTo>
                    <a:pt x="19021" y="1685373"/>
                  </a:lnTo>
                  <a:cubicBezTo>
                    <a:pt x="13976" y="1685373"/>
                    <a:pt x="9138" y="1683369"/>
                    <a:pt x="5571" y="1679802"/>
                  </a:cubicBezTo>
                  <a:cubicBezTo>
                    <a:pt x="2004" y="1676235"/>
                    <a:pt x="0" y="1671396"/>
                    <a:pt x="0" y="1666352"/>
                  </a:cubicBezTo>
                  <a:lnTo>
                    <a:pt x="0" y="19021"/>
                  </a:lnTo>
                  <a:cubicBezTo>
                    <a:pt x="0" y="8516"/>
                    <a:pt x="8516" y="0"/>
                    <a:pt x="1902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91" r="0" b="-391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493924" y="6934200"/>
            <a:ext cx="3467057" cy="4305236"/>
            <a:chOff x="0" y="0"/>
            <a:chExt cx="4622743" cy="5740315"/>
          </a:xfrm>
        </p:grpSpPr>
        <p:sp>
          <p:nvSpPr>
            <p:cNvPr name="Freeform 15" id="15"/>
            <p:cNvSpPr/>
            <p:nvPr/>
          </p:nvSpPr>
          <p:spPr>
            <a:xfrm flipH="false" flipV="false"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r="r" b="b" t="t" l="l"/>
              <a:pathLst>
                <a:path h="1665391" w="4872155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54623" cy="336039"/>
              </a:xfrm>
              <a:custGeom>
                <a:avLst/>
                <a:gdLst/>
                <a:ahLst/>
                <a:cxnLst/>
                <a:rect r="r" b="b" t="t" l="l"/>
                <a:pathLst>
                  <a:path h="336039" w="954623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8A8A8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anchor="ctr" rtlCol="false" tIns="18752" lIns="18752" bIns="18752" rIns="18752"/>
              <a:lstStyle/>
              <a:p>
                <a:pPr algn="ctr" marL="0" indent="0" lvl="0">
                  <a:lnSpc>
                    <a:spcPts val="755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  <p:transition spd="slow">
    <p:push dir="u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800100"/>
            <a:ext cx="6866887" cy="181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F0F0F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Qualité du Code et Perspectives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4281488"/>
            <a:ext cx="5448300" cy="844349"/>
            <a:chOff x="0" y="0"/>
            <a:chExt cx="7264400" cy="112579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72644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9"/>
                </a:lnSpc>
                <a:spcBef>
                  <a:spcPct val="0"/>
                </a:spcBef>
              </a:pPr>
              <a:r>
                <a:rPr lang="en-US" b="true" sz="2658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Code modulaire et maintenable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55899"/>
              <a:ext cx="726440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Structure claire et organisée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5872162"/>
            <a:ext cx="5448300" cy="1244399"/>
            <a:chOff x="0" y="0"/>
            <a:chExt cx="7264400" cy="165919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726440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9"/>
                </a:lnSpc>
                <a:spcBef>
                  <a:spcPct val="0"/>
                </a:spcBef>
              </a:pPr>
              <a:r>
                <a:rPr lang="en-US" b="true" sz="2658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Utilisation avancée de JavaScript ES6+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89299"/>
              <a:ext cx="726440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Syntaxes modernes et performantes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662862"/>
            <a:ext cx="5448300" cy="1244399"/>
            <a:chOff x="0" y="0"/>
            <a:chExt cx="7264400" cy="165919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726440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9"/>
                </a:lnSpc>
                <a:spcBef>
                  <a:spcPct val="0"/>
                </a:spcBef>
              </a:pPr>
              <a:r>
                <a:rPr lang="en-US" b="true" sz="2658" strike="noStrike" u="none">
                  <a:solidFill>
                    <a:srgbClr val="A0A0A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Perspectives d’intégration backend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89299"/>
              <a:ext cx="7264400" cy="46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DDDD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Évolution vers des bases de données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82408" y="-295776"/>
            <a:ext cx="8140533" cy="10878553"/>
            <a:chOff x="0" y="0"/>
            <a:chExt cx="1261182" cy="16853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1182" cy="1685373"/>
            </a:xfrm>
            <a:custGeom>
              <a:avLst/>
              <a:gdLst/>
              <a:ahLst/>
              <a:cxnLst/>
              <a:rect r="r" b="b" t="t" l="l"/>
              <a:pathLst>
                <a:path h="1685373" w="1261182">
                  <a:moveTo>
                    <a:pt x="19021" y="0"/>
                  </a:moveTo>
                  <a:lnTo>
                    <a:pt x="1242161" y="0"/>
                  </a:lnTo>
                  <a:cubicBezTo>
                    <a:pt x="1252666" y="0"/>
                    <a:pt x="1261182" y="8516"/>
                    <a:pt x="1261182" y="19021"/>
                  </a:cubicBezTo>
                  <a:lnTo>
                    <a:pt x="1261182" y="1666352"/>
                  </a:lnTo>
                  <a:cubicBezTo>
                    <a:pt x="1261182" y="1676857"/>
                    <a:pt x="1252666" y="1685373"/>
                    <a:pt x="1242161" y="1685373"/>
                  </a:cubicBezTo>
                  <a:lnTo>
                    <a:pt x="19021" y="1685373"/>
                  </a:lnTo>
                  <a:cubicBezTo>
                    <a:pt x="13976" y="1685373"/>
                    <a:pt x="9138" y="1683369"/>
                    <a:pt x="5571" y="1679802"/>
                  </a:cubicBezTo>
                  <a:cubicBezTo>
                    <a:pt x="2004" y="1676235"/>
                    <a:pt x="0" y="1671396"/>
                    <a:pt x="0" y="1666352"/>
                  </a:cubicBezTo>
                  <a:lnTo>
                    <a:pt x="0" y="19021"/>
                  </a:lnTo>
                  <a:cubicBezTo>
                    <a:pt x="0" y="8516"/>
                    <a:pt x="8516" y="0"/>
                    <a:pt x="1902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91" r="0" b="-391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493924" y="6934200"/>
            <a:ext cx="3467057" cy="4305236"/>
            <a:chOff x="0" y="0"/>
            <a:chExt cx="4622743" cy="5740315"/>
          </a:xfrm>
        </p:grpSpPr>
        <p:sp>
          <p:nvSpPr>
            <p:cNvPr name="Freeform 15" id="15"/>
            <p:cNvSpPr/>
            <p:nvPr/>
          </p:nvSpPr>
          <p:spPr>
            <a:xfrm flipH="false" flipV="false"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r="r" b="b" t="t" l="l"/>
              <a:pathLst>
                <a:path h="1665391" w="4872155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54623" cy="336039"/>
              </a:xfrm>
              <a:custGeom>
                <a:avLst/>
                <a:gdLst/>
                <a:ahLst/>
                <a:cxnLst/>
                <a:rect r="r" b="b" t="t" l="l"/>
                <a:pathLst>
                  <a:path h="336039" w="954623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8A8A8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anchor="ctr" rtlCol="false" tIns="18752" lIns="18752" bIns="18752" rIns="18752"/>
              <a:lstStyle/>
              <a:p>
                <a:pPr algn="ctr" marL="0" indent="0" lvl="0">
                  <a:lnSpc>
                    <a:spcPts val="755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Présentation - Application Web de Gestion Immobilière</dc:description>
  <dc:identifier>DAG9XKN-R6Y</dc:identifier>
  <dcterms:modified xsi:type="dcterms:W3CDTF">2011-08-01T06:04:30Z</dcterms:modified>
  <cp:revision>1</cp:revision>
  <dc:title>Présentation - Application Web de Gestion Immobilière</dc:title>
</cp:coreProperties>
</file>